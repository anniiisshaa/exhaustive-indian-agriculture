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3" r:id="rId8"/>
    <p:sldId id="262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92">
          <p15:clr>
            <a:srgbClr val="A4A3A4"/>
          </p15:clr>
        </p15:guide>
        <p15:guide id="2" pos="192">
          <p15:clr>
            <a:srgbClr val="A4A3A4"/>
          </p15:clr>
        </p15:guide>
        <p15:guide id="3" orient="horz" pos="1080">
          <p15:clr>
            <a:srgbClr val="A4A3A4"/>
          </p15:clr>
        </p15:guide>
      </p15:sldGuideLst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xmlns="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792"/>
        <p:guide pos="192"/>
        <p:guide orient="horz" pos="10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22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22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20" Type="http://customschemas.google.com/relationships/presentationmetadata" Target="metadata"/><Relationship Id="rId5" Type="http://schemas.openxmlformats.org/officeDocument/2006/relationships/slide" Target="slides/slide4.xml"/><Relationship Id="rId22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4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878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87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266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153E6A6-60E4-FE14-1CBC-8CC211274D1C}"/>
              </a:ext>
            </a:extLst>
          </p:cNvPr>
          <p:cNvSpPr/>
          <p:nvPr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7CE881-772B-9023-3054-4B219B75D755}"/>
              </a:ext>
            </a:extLst>
          </p:cNvPr>
          <p:cNvSpPr/>
          <p:nvPr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 descr="A blue and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16A7B69A-9B14-87FE-841D-37F0A91D141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 amt="16000"/>
          </a:blip>
          <a:srcRect t="24724" r="1619" b="63695"/>
          <a:stretch/>
        </p:blipFill>
        <p:spPr>
          <a:xfrm>
            <a:off x="0" y="-1"/>
            <a:ext cx="9839325" cy="7239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7B91A16-5D54-2FC0-B0FD-A78085FC1313}"/>
              </a:ext>
            </a:extLst>
          </p:cNvPr>
          <p:cNvSpPr/>
          <p:nvPr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701" r:id="rId2"/>
    <p:sldLayoutId id="2147483714" r:id="rId3"/>
    <p:sldLayoutId id="214748372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freepik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itting at a desk with a computer&#10;&#10;Description automatically generated">
            <a:extLst>
              <a:ext uri="{FF2B5EF4-FFF2-40B4-BE49-F238E27FC236}">
                <a16:creationId xmlns:a16="http://schemas.microsoft.com/office/drawing/2014/main" id="{07B8740D-C76F-46FC-AEFB-23FB0614D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1857762-AD52-483C-B3E1-635C5BBC6F2F}"/>
              </a:ext>
            </a:extLst>
          </p:cNvPr>
          <p:cNvSpPr/>
          <p:nvPr/>
        </p:nvSpPr>
        <p:spPr>
          <a:xfrm>
            <a:off x="5873750" y="584200"/>
            <a:ext cx="4673600" cy="977900"/>
          </a:xfrm>
          <a:prstGeom prst="roundRect">
            <a:avLst/>
          </a:prstGeom>
          <a:solidFill>
            <a:srgbClr val="EBEEF9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067E9C-C7B9-4476-9708-CBB3F66FD892}"/>
              </a:ext>
            </a:extLst>
          </p:cNvPr>
          <p:cNvSpPr txBox="1"/>
          <p:nvPr/>
        </p:nvSpPr>
        <p:spPr>
          <a:xfrm>
            <a:off x="4665128" y="3429000"/>
            <a:ext cx="687086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solidFill>
                  <a:schemeClr val="bg1"/>
                </a:solidFill>
              </a:rPr>
              <a:t>Power BI Financial Data Analysis</a:t>
            </a:r>
          </a:p>
          <a:p>
            <a:pPr algn="r"/>
            <a:endParaRPr lang="en-US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7224A59-2417-428A-A991-E468431BB817}"/>
              </a:ext>
            </a:extLst>
          </p:cNvPr>
          <p:cNvGrpSpPr/>
          <p:nvPr/>
        </p:nvGrpSpPr>
        <p:grpSpPr>
          <a:xfrm>
            <a:off x="6890523" y="742091"/>
            <a:ext cx="2640053" cy="664378"/>
            <a:chOff x="2375536" y="1112060"/>
            <a:chExt cx="3292636" cy="828603"/>
          </a:xfrm>
        </p:grpSpPr>
        <p:pic>
          <p:nvPicPr>
            <p:cNvPr id="7" name="Picture 6" descr="A close up of a logo&#10;&#10;Description automatically generated">
              <a:extLst>
                <a:ext uri="{FF2B5EF4-FFF2-40B4-BE49-F238E27FC236}">
                  <a16:creationId xmlns:a16="http://schemas.microsoft.com/office/drawing/2014/main" id="{BD3530AF-9771-470E-A9BF-F28AA2275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2781" y="1270168"/>
              <a:ext cx="1575391" cy="512386"/>
            </a:xfrm>
            <a:prstGeom prst="rect">
              <a:avLst/>
            </a:prstGeom>
          </p:spPr>
        </p:pic>
        <p:pic>
          <p:nvPicPr>
            <p:cNvPr id="8" name="Picture 7" descr="A yellow and red shell logo&#10;&#10;Description automatically generated">
              <a:extLst>
                <a:ext uri="{FF2B5EF4-FFF2-40B4-BE49-F238E27FC236}">
                  <a16:creationId xmlns:a16="http://schemas.microsoft.com/office/drawing/2014/main" id="{75E6A819-9F3F-4787-A707-A7415C302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75536" y="1112060"/>
              <a:ext cx="985475" cy="8286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7127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94E319-C77C-49E2-964C-6E125D716194}"/>
              </a:ext>
            </a:extLst>
          </p:cNvPr>
          <p:cNvSpPr txBox="1"/>
          <p:nvPr/>
        </p:nvSpPr>
        <p:spPr>
          <a:xfrm>
            <a:off x="191910" y="972537"/>
            <a:ext cx="7153769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213163"/>
                </a:solidFill>
              </a:rPr>
              <a:t>Learning Objectives</a:t>
            </a:r>
          </a:p>
          <a:p>
            <a:endParaRPr lang="en-IN" sz="2000" b="1" dirty="0">
              <a:solidFill>
                <a:srgbClr val="213163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Understanding data cleaning techniques in Power BI.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Creating meaningful data visualizations and insights.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Applying DAX functions for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Using Power Query for transformation.</a:t>
            </a:r>
          </a:p>
          <a:p>
            <a:endParaRPr lang="en-IN" sz="2000" dirty="0">
              <a:solidFill>
                <a:srgbClr val="213163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1F3497-5370-4874-9908-5AD45214E10B}"/>
              </a:ext>
            </a:extLst>
          </p:cNvPr>
          <p:cNvSpPr txBox="1"/>
          <p:nvPr/>
        </p:nvSpPr>
        <p:spPr>
          <a:xfrm>
            <a:off x="199809" y="6135329"/>
            <a:ext cx="795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b="1" dirty="0">
                <a:latin typeface="+mn-lt"/>
              </a:rPr>
              <a:t>Source 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E830DD-8813-42EB-B27B-B7D85423D0C7}"/>
              </a:ext>
            </a:extLst>
          </p:cNvPr>
          <p:cNvSpPr txBox="1"/>
          <p:nvPr/>
        </p:nvSpPr>
        <p:spPr>
          <a:xfrm>
            <a:off x="880529" y="6135329"/>
            <a:ext cx="1842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dirty="0">
                <a:solidFill>
                  <a:srgbClr val="0000FF"/>
                </a:solidFill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www.freepik.com/</a:t>
            </a:r>
            <a:endParaRPr lang="en-IN" sz="1200" dirty="0">
              <a:solidFill>
                <a:srgbClr val="0000FF"/>
              </a:solidFill>
              <a:latin typeface="+mn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22F707-7F22-48A3-97EC-98EFB1023A55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adder leading to a large yellow circle&#10;&#10;Description automatically generated">
            <a:extLst>
              <a:ext uri="{FF2B5EF4-FFF2-40B4-BE49-F238E27FC236}">
                <a16:creationId xmlns:a16="http://schemas.microsoft.com/office/drawing/2014/main" id="{E2920B14-B344-4926-9729-BC7EBD91FF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5000"/>
          </a:blip>
          <a:srcRect l="13763" t="6135" r="13650"/>
          <a:stretch/>
        </p:blipFill>
        <p:spPr>
          <a:xfrm>
            <a:off x="7345680" y="1442720"/>
            <a:ext cx="4500880" cy="46329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264928-EACB-4739-BDDA-6799C99356F3}"/>
              </a:ext>
            </a:extLst>
          </p:cNvPr>
          <p:cNvSpPr txBox="1"/>
          <p:nvPr/>
        </p:nvSpPr>
        <p:spPr>
          <a:xfrm>
            <a:off x="8882743" y="2692901"/>
            <a:ext cx="1978089" cy="1472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3500" b="1" dirty="0">
                <a:solidFill>
                  <a:schemeClr val="tx1"/>
                </a:solidFill>
                <a:latin typeface="+mn-lt"/>
              </a:rPr>
              <a:t>GOAL</a:t>
            </a:r>
          </a:p>
          <a:p>
            <a:pPr>
              <a:spcAft>
                <a:spcPts val="800"/>
              </a:spcAft>
            </a:pPr>
            <a:r>
              <a:rPr lang="en-IN" sz="2400" dirty="0"/>
              <a:t>Insightful Analysis</a:t>
            </a:r>
            <a:endParaRPr lang="en-IN" sz="2800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32052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331777" y="1086325"/>
            <a:ext cx="6102626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213163"/>
                </a:solidFill>
              </a:rPr>
              <a:t>T</a:t>
            </a:r>
            <a:r>
              <a:rPr lang="en-IN" sz="2800" b="1" dirty="0" err="1">
                <a:solidFill>
                  <a:srgbClr val="213163"/>
                </a:solidFill>
              </a:rPr>
              <a:t>ools</a:t>
            </a:r>
            <a:r>
              <a:rPr lang="en-IN" sz="2800" b="1" dirty="0">
                <a:solidFill>
                  <a:srgbClr val="213163"/>
                </a:solidFill>
              </a:rPr>
              <a:t> and Technology used </a:t>
            </a:r>
          </a:p>
          <a:p>
            <a:endParaRPr lang="en-IN" sz="2000" b="1" dirty="0">
              <a:solidFill>
                <a:srgbClr val="213163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Power BI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DAX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Power Query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Excel</a:t>
            </a:r>
          </a:p>
          <a:p>
            <a:endParaRPr lang="en-IN" sz="2000" b="1" dirty="0">
              <a:solidFill>
                <a:srgbClr val="2131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4571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68355" y="1014656"/>
            <a:ext cx="993000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213163"/>
                </a:solidFill>
              </a:rPr>
              <a:t>Methodology</a:t>
            </a:r>
          </a:p>
          <a:p>
            <a:endParaRPr lang="en-US" sz="2000" b="1" dirty="0">
              <a:solidFill>
                <a:srgbClr val="213163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2000" b="1" dirty="0"/>
              <a:t>Data Cleaning:</a:t>
            </a:r>
            <a:endParaRPr lang="en-US" sz="2000" dirty="0"/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Checked for missing values and handled them appropriately.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Removed duplicate entries.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Ensured correct data types (e.g., numerical, date, text).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Fixed inconsistencies in categorical data.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Identified and handled outliers.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Data Analysis &amp; Visualization:</a:t>
            </a:r>
            <a:endParaRPr lang="en-US" sz="2000" dirty="0"/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Created multiple charts and visualizations to extract insights.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Applied filters and sorting to enhance data presentation.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DAX &amp; Calculations:</a:t>
            </a:r>
            <a:endParaRPr lang="en-US" sz="2000" dirty="0"/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Created calculated columns for Month Number.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Used DAX measures to calculate KPIs.</a:t>
            </a:r>
          </a:p>
          <a:p>
            <a:r>
              <a:rPr lang="en-US" sz="1800" b="1" dirty="0">
                <a:solidFill>
                  <a:srgbClr val="213163"/>
                </a:solidFill>
              </a:rPr>
              <a:t> </a:t>
            </a:r>
            <a:endParaRPr lang="en-IN" sz="1800" dirty="0">
              <a:solidFill>
                <a:srgbClr val="2131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6790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3" y="1054412"/>
            <a:ext cx="1167874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213163"/>
                </a:solidFill>
              </a:rPr>
              <a:t>Problem Statement: </a:t>
            </a:r>
          </a:p>
          <a:p>
            <a:endParaRPr lang="en-US" sz="2000" b="1" dirty="0">
              <a:solidFill>
                <a:srgbClr val="213163"/>
              </a:solidFill>
            </a:endParaRPr>
          </a:p>
          <a:p>
            <a:r>
              <a:rPr lang="en-US" sz="2400" dirty="0"/>
              <a:t>Businesses often struggle with making data-driven decisions due to unstructured financial data. The goal is to analyze financial performance across products, countries, and time periods using Power BI.</a:t>
            </a:r>
          </a:p>
          <a:p>
            <a:r>
              <a:rPr lang="en-US" sz="2000" b="1" dirty="0">
                <a:solidFill>
                  <a:srgbClr val="213163"/>
                </a:solidFill>
              </a:rPr>
              <a:t> </a:t>
            </a:r>
            <a:endParaRPr lang="en-IN" sz="2000" b="1" dirty="0">
              <a:solidFill>
                <a:srgbClr val="2131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65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F9016-2371-5F82-52DC-FCD95205C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E7BBD2-E022-40D9-B7B7-1745961786C4}"/>
              </a:ext>
            </a:extLst>
          </p:cNvPr>
          <p:cNvSpPr txBox="1"/>
          <p:nvPr/>
        </p:nvSpPr>
        <p:spPr>
          <a:xfrm>
            <a:off x="219303" y="895791"/>
            <a:ext cx="11753394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213163"/>
                </a:solidFill>
              </a:rPr>
              <a:t>Solution:</a:t>
            </a:r>
          </a:p>
          <a:p>
            <a:endParaRPr lang="en-US" sz="2000" b="1" dirty="0">
              <a:solidFill>
                <a:srgbClr val="213163"/>
              </a:solidFill>
            </a:endParaRPr>
          </a:p>
          <a:p>
            <a:endParaRPr lang="en-US" sz="2000" b="1" dirty="0">
              <a:solidFill>
                <a:srgbClr val="213163"/>
              </a:solidFill>
            </a:endParaRPr>
          </a:p>
          <a:p>
            <a:endParaRPr lang="en-US" sz="2000" b="1" dirty="0">
              <a:solidFill>
                <a:srgbClr val="213163"/>
              </a:solidFill>
            </a:endParaRPr>
          </a:p>
          <a:p>
            <a:endParaRPr lang="en-US" sz="2000" b="1" dirty="0">
              <a:solidFill>
                <a:srgbClr val="213163"/>
              </a:solidFill>
            </a:endParaRPr>
          </a:p>
          <a:p>
            <a:endParaRPr lang="en-US" sz="2000" b="1" dirty="0">
              <a:solidFill>
                <a:srgbClr val="213163"/>
              </a:solidFill>
            </a:endParaRPr>
          </a:p>
          <a:p>
            <a:endParaRPr lang="en-US" sz="2000" b="1" dirty="0">
              <a:solidFill>
                <a:srgbClr val="213163"/>
              </a:solidFill>
            </a:endParaRPr>
          </a:p>
          <a:p>
            <a:endParaRPr lang="en-US" sz="2000" b="1" dirty="0">
              <a:solidFill>
                <a:srgbClr val="213163"/>
              </a:solidFill>
            </a:endParaRPr>
          </a:p>
          <a:p>
            <a:r>
              <a:rPr lang="en-US" sz="2000" b="1" dirty="0">
                <a:solidFill>
                  <a:srgbClr val="213163"/>
                </a:solidFill>
              </a:rPr>
              <a:t>  </a:t>
            </a:r>
          </a:p>
          <a:p>
            <a:endParaRPr lang="en-US" sz="2000" b="1" dirty="0">
              <a:solidFill>
                <a:srgbClr val="213163"/>
              </a:solidFill>
            </a:endParaRPr>
          </a:p>
          <a:p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9FDF8D-D5C4-685D-A48D-4F06A63A1AE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31744" y="1561004"/>
            <a:ext cx="10198359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Units Sold by Each Product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Bar Chart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Gross Sales by Each Country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Bar Chart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Profit by Each Month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 Chart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(Sorted Month Name by Month Number)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Manufacturing Price of Each Product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Donut Chart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Profit by Each Segment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Pie Chart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5 Profitable Products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Bar Chart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(Applied Top N Filter)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Country-wise Units Sold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 Visualization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Card Charts: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(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 Avg Sales Price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(ii). Avg Manufacturing Price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(iii). Total COGS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(iv). Total Profit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 Trend Over Time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Area Chart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Profit by Product Category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Stacked Column Chart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87431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27112" y="251980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Screenshot of Output:  </a:t>
            </a:r>
            <a:endParaRPr lang="en-IN" sz="2000" b="1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E34FA9-E9ED-122E-7427-7D44D0FDC3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46"/>
          <a:stretch/>
        </p:blipFill>
        <p:spPr>
          <a:xfrm>
            <a:off x="227112" y="736065"/>
            <a:ext cx="11510798" cy="603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949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49087" y="988151"/>
            <a:ext cx="1181275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213163"/>
                </a:solidFill>
              </a:rPr>
              <a:t>Conclusion: </a:t>
            </a:r>
          </a:p>
          <a:p>
            <a:endParaRPr lang="en-US" sz="3200" b="1" dirty="0">
              <a:solidFill>
                <a:srgbClr val="213163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The analysis provided insights into sales trends, profitability, and segment   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Power BI enabled efficient data cleaning, transformation, and visualization.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The final dashboard allows for dynamic filtering and deeper financial insights for business decisions.</a:t>
            </a:r>
          </a:p>
          <a:p>
            <a:r>
              <a:rPr lang="en-US" sz="1800" b="1" dirty="0">
                <a:solidFill>
                  <a:srgbClr val="213163"/>
                </a:solidFill>
              </a:rPr>
              <a:t>  </a:t>
            </a:r>
            <a:endParaRPr lang="en-IN" sz="1800" dirty="0">
              <a:solidFill>
                <a:srgbClr val="2131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988358"/>
      </p:ext>
    </p:extLst>
  </p:cSld>
  <p:clrMapOvr>
    <a:masterClrMapping/>
  </p:clrMapOvr>
</p:sld>
</file>

<file path=ppt/theme/theme1.xml><?xml version="1.0" encoding="utf-8"?>
<a:theme xmlns:a="http://schemas.openxmlformats.org/drawingml/2006/main" name="Session 01 Design Thinking &amp; Critical Thinking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ession 01 Design Thinking &amp; Critical Thinking" id="{1DE73F69-F87A-4ED3-81C1-82D2BA622E0C}" vid="{37568650-F724-47C7-905E-9640F80174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Session 01 Design Thinking &amp; Critical Thinking</Template>
  <TotalTime>435</TotalTime>
  <Words>342</Words>
  <Application>Microsoft Office PowerPoint</Application>
  <PresentationFormat>Widescreen</PresentationFormat>
  <Paragraphs>66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Wingdings</vt:lpstr>
      <vt:lpstr>Session 01 Design Thinking &amp; Critical Thinking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Mahesh Kurhe</dc:creator>
  <cp:lastModifiedBy>Anisha Kumari</cp:lastModifiedBy>
  <cp:revision>6</cp:revision>
  <dcterms:created xsi:type="dcterms:W3CDTF">2024-12-31T09:40:01Z</dcterms:created>
  <dcterms:modified xsi:type="dcterms:W3CDTF">2025-02-09T18:05:31Z</dcterms:modified>
</cp:coreProperties>
</file>